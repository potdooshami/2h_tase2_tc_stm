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Chiral vortex interlocking in topological soliton lattice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We investigated the 3x3 Charge Density Wave (CDW) in 2H-TaSe2.</a:t>
            </a:r>
          </a:p>
          <a:p>
            <a:pPr>
              <a:defRPr sz="1200"/>
            </a:pPr>
            <a:r>
              <a:t>3 types of topological domain walls (DW) were observed.</a:t>
            </a:r>
          </a:p>
          <a:p>
            <a:pPr>
              <a:defRPr sz="1200"/>
            </a:pPr>
            <a:r>
              <a:t>two types of chiral vortices (R and L) were identified</a:t>
            </a:r>
          </a:p>
          <a:p>
            <a:pPr>
              <a:defRPr sz="1200"/>
            </a:pPr>
            <a:r>
              <a:t>Spectroscopy confirms the insulating nature of the C-phase.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fi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096000" cy="25041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289280"/>
            <a:ext cx="6647688" cy="9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Figure 1: 3x3 Charge Density Wave (CDW) in 2H-TaSe2</a:t>
            </a:r>
          </a:p>
          <a:p>
            <a:pPr>
              <a:defRPr b="1" sz="1100"/>
            </a:pPr>
            <a:r>
              <a:t>Info:</a:t>
            </a:r>
          </a:p>
          <a:p>
            <a:pPr lvl="1"/>
            <a:r>
              <a:t>Lattice structure</a:t>
            </a:r>
          </a:p>
          <a:p>
            <a:pPr lvl="1"/>
            <a:r>
              <a:t>CDW in real space</a:t>
            </a:r>
          </a:p>
          <a:p>
            <a:pPr lvl="1"/>
            <a:r>
              <a:t>FFT of Topo</a:t>
            </a:r>
          </a:p>
          <a:p>
            <a:pPr>
              <a:defRPr b="1" sz="1100"/>
            </a:pPr>
            <a:r>
              <a:t>Argument:</a:t>
            </a:r>
          </a:p>
          <a:p>
            <a:pPr lvl="1"/>
            <a:r>
              <a:t>atom(Se) and CDW both corrugation are observed</a:t>
            </a:r>
          </a:p>
          <a:p>
            <a:pPr lvl="1"/>
            <a:r>
              <a:t>CDW center is hollow</a:t>
            </a:r>
          </a:p>
          <a:p>
            <a:pPr lvl="1"/>
            <a:r>
              <a:t>3x3 CDW from FFT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fi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4" y="914400"/>
            <a:ext cx="6408000" cy="38915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505280"/>
            <a:ext cx="6647688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Figure 2: 3 types of topological domain walls (DW)</a:t>
            </a:r>
          </a:p>
          <a:p>
            <a:pPr>
              <a:defRPr b="1" sz="1100"/>
            </a:pPr>
            <a:r>
              <a:t>Info:</a:t>
            </a:r>
          </a:p>
          <a:p>
            <a:pPr lvl="1"/>
            <a:r>
              <a:t>three DWs topo</a:t>
            </a:r>
          </a:p>
          <a:p>
            <a:pPr lvl="1"/>
            <a:r>
              <a:t>three DWs cartoon</a:t>
            </a:r>
          </a:p>
          <a:p>
            <a:pPr lvl="1"/>
            <a:r>
              <a:t>phaseshiftmap of DWN</a:t>
            </a:r>
          </a:p>
          <a:p>
            <a:pPr>
              <a:defRPr b="1" sz="1100"/>
            </a:pPr>
            <a:r>
              <a:t>Argument:</a:t>
            </a:r>
          </a:p>
          <a:p>
            <a:pPr lvl="1"/>
            <a:r>
              <a:t>atom corruation is fixed but CDW currgation localy shift</a:t>
            </a:r>
          </a:p>
          <a:p>
            <a:pPr lvl="1"/>
            <a:r>
              <a:t>three shift rgb has a b^3=g^3=r^3=rgb=0</a:t>
            </a:r>
          </a:p>
          <a:p>
            <a:pPr lvl="1"/>
            <a:r>
              <a:t>shiftmap shows honeycomb-like DWN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fi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4" y="914400"/>
            <a:ext cx="6408000" cy="32554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505280"/>
            <a:ext cx="6647688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Figure 3: two types of chiral vortices (R and L)</a:t>
            </a:r>
          </a:p>
          <a:p>
            <a:pPr>
              <a:defRPr b="1" sz="1100"/>
            </a:pPr>
            <a:r>
              <a:t>Info:</a:t>
            </a:r>
          </a:p>
          <a:p>
            <a:pPr lvl="1"/>
            <a:r>
              <a:t>schematic of DV</a:t>
            </a:r>
          </a:p>
          <a:p>
            <a:pPr lvl="1"/>
            <a:r>
              <a:t>phase infos of DV</a:t>
            </a:r>
          </a:p>
          <a:p>
            <a:pPr lvl="1"/>
            <a:r>
              <a:t>tinker toy model of DV</a:t>
            </a:r>
          </a:p>
          <a:p>
            <a:pPr>
              <a:defRPr b="1" sz="1100"/>
            </a:pPr>
            <a:r>
              <a:t>Argument:</a:t>
            </a:r>
          </a:p>
          <a:p>
            <a:pPr lvl="1"/>
            <a:r>
              <a:t>tri-junction of 3 differnet phase</a:t>
            </a:r>
          </a:p>
          <a:p>
            <a:pPr lvl="1"/>
            <a:r>
              <a:t>Identified by not only shift but also centerness</a:t>
            </a:r>
          </a:p>
          <a:p>
            <a:pPr lvl="1"/>
            <a:r>
              <a:t>honeycomb structure is naturally formed by the existence of R,L vortex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fi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096000" cy="47527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289280"/>
            <a:ext cx="6647688" cy="9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Figure 4: Phase Pinning at the Domain Walls</a:t>
            </a:r>
          </a:p>
          <a:p>
            <a:pPr>
              <a:defRPr b="1" sz="1100"/>
            </a:pPr>
            <a:r>
              <a:t>Info:</a:t>
            </a:r>
          </a:p>
          <a:p>
            <a:pPr lvl="1"/>
            <a:r>
              <a:t>DWN topological encoded</a:t>
            </a:r>
          </a:p>
          <a:p>
            <a:pPr lvl="1"/>
            <a:r>
              <a:t>geometric diagram</a:t>
            </a:r>
          </a:p>
          <a:p>
            <a:pPr lvl="1"/>
            <a:r>
              <a:t>algebraic diagram</a:t>
            </a:r>
          </a:p>
          <a:p>
            <a:pPr>
              <a:defRPr b="1" sz="1100"/>
            </a:pPr>
            <a:r>
              <a:t>Argument:</a:t>
            </a:r>
          </a:p>
          <a:p>
            <a:pPr lvl="1"/>
            <a:r>
              <a:t>Bulk-boundary correspendence(Uniqueness of boundary decomposition)</a:t>
            </a:r>
          </a:p>
          <a:p>
            <a:pPr lvl="1"/>
            <a:r>
              <a:t>charge calculation from bounding loops</a:t>
            </a:r>
          </a:p>
          <a:p>
            <a:pPr lvl="1"/>
            <a:r>
              <a:t>Topological invariant is rigorously defined by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